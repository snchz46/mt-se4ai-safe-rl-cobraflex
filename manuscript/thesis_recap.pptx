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005" autoAdjust="0"/>
  </p:normalViewPr>
  <p:slideViewPr>
    <p:cSldViewPr snapToGrid="0">
      <p:cViewPr varScale="1">
        <p:scale>
          <a:sx n="106" d="100"/>
          <a:sy n="106" d="100"/>
        </p:scale>
        <p:origin x="7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1500" b="1">
                <a:solidFill>
                  <a:srgbClr val="111111"/>
                </a:solidFill>
              </a:rPr>
              <a:t>Road-edge contacts · final 2-D PPO 550k</a:t>
            </a:r>
          </a:p>
        </c:rich>
      </c:tx>
      <c:overlay val="1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Cage active</c:v>
          </c:tx>
          <c:spPr>
            <a:solidFill>
              <a:srgbClr val="2C7FB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11111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In-ODD</c:v>
              </c:pt>
              <c:pt idx="1">
                <c:v>Out-of-ODD</c:v>
              </c:pt>
            </c:strLit>
          </c:cat>
          <c:val>
            <c:numLit>
              <c:formatCode>General</c:formatCode>
              <c:ptCount val="2"/>
              <c:pt idx="0">
                <c:v>0</c:v>
              </c:pt>
              <c:pt idx="1">
                <c:v>56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2BB-4098-86C9-22CC5A92843B}"/>
            </c:ext>
          </c:extLst>
        </c:ser>
        <c:ser>
          <c:idx val="1"/>
          <c:order val="1"/>
          <c:tx>
            <c:v>Cage off</c:v>
          </c:tx>
          <c:spPr>
            <a:solidFill>
              <a:srgbClr val="D6272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111111"/>
                    </a:solidFill>
                  </a:defRPr>
                </a:pPr>
                <a:endParaRPr lang="es-E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In-ODD</c:v>
              </c:pt>
              <c:pt idx="1">
                <c:v>Out-of-ODD</c:v>
              </c:pt>
            </c:strLit>
          </c:cat>
          <c:val>
            <c:numLit>
              <c:formatCode>General</c:formatCode>
              <c:ptCount val="2"/>
              <c:pt idx="0">
                <c:v>60</c:v>
              </c:pt>
              <c:pt idx="1">
                <c:v>217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2BB-4098-86C9-22CC5A92843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777777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11111"/>
                </a:solidFill>
              </a:defRPr>
            </a:pPr>
            <a:endParaRPr lang="es-E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40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AAAAAA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55555"/>
                </a:solidFill>
              </a:defRPr>
            </a:pPr>
            <a:endParaRPr lang="es-ES"/>
          </a:p>
        </c:txPr>
        <c:crossAx val="48650112"/>
        <c:crosses val="autoZero"/>
        <c:crossBetween val="between"/>
        <c:majorUnit val="60"/>
      </c:valAx>
      <c:spPr>
        <a:solidFill>
          <a:srgbClr val="FFFFFF"/>
        </a:solidFill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050">
              <a:solidFill>
                <a:srgbClr val="111111"/>
              </a:solidFill>
            </a:defRPr>
          </a:pPr>
          <a:endParaRPr lang="es-ES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the learned controller never acts on the vehicle directly; the safety cage retains final authority. The figure shows the 1-D predecessor and is labeled accordingly.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B:/SE4AI/thesis_repo/docs/00_v_model_adapted.md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B:/SE4AI/thesis_repo/docs/04_cage_specification.md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B:/SE4AI/thesis_repo/docs/DECISIONS.md (D-43)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B:/SE4AI/thesis_repo/manuscript/figures/etrack_camera_control_loop.png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the main contribution is a traceable, executable assurance chain—not an isolated policy.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B:/SE4AI/thesis_repo/docs/05_scenario_library.md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B:/SE4AI/thesis_repo/docs/07_traceability_matrix.md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B:/SE4AI/thesis_repo/docs/15_implementation_inventory.md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F validates the method, the 1-D camera arm supplied the frozen G4 record, and the competent 2-D PPO arm is now the verdict of record for the completed simulation programme.</a:t>
            </a:r>
          </a:p>
          <a:p>
            <a:pPr indent="0" algn="l">
              <a:lnSpc>
                <a:spcPct val="100000"/>
              </a:lnSpc>
              <a:buNone/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B:/SE4AI/thesis_repo/docs/07_traceability_matrix.md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B:/SE4AI/thesis_repo/docs/11_camera_rl_training.md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B:/SE4AI/thesis_repo/docs/DECISIONS.md (D-66, D-67, D-69)</a:t>
            </a:r>
          </a:p>
          <a:p>
            <a:pPr indent="0" algn="l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B:/SE4AI/thesis_repo/docs/CHANGELOG.md (31 July 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the sequence was a controlled search, not four competing headline results. Each branch changed one main axis and kept the evaluation spine comparable wherever the contract allowed it.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B:/SE4AI/thesis_repo/docs/DECISIONS.md (D-49, D-59, D-60, D-66, D-67)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B:/SE4AI/thesis_repo/docs/11_camera_rl_training.md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B:/SE4AI/thesis_repo/manuscript/chapters/chapter_07_training_specification.md (§7.5.5)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the frozen F-track was the methodological control. It established that the training, cage, logging, and verdict pipeline worked with perfect state information.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B:/SE4AI/thesis_repo/manuscript/figures/fig_7_1_convergence.png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B:/SE4AI/thesis_repo/manuscript/figures/fig_7_2_intervention.png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B:/SE4AI/thesis_repo/manuscript/chapters/chapter_07_training_specification.md (§7.4–§7.5)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B:/SE4AI/thesis_repo/experiments/sim/runs/rl_eval_2024_200k_4k4/summary.json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camera PPO learned the task for every seed, but training curves alone hid two qualitatively different closed-loop basins. Behavioural evaluation classified the result.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B:/SE4AI/thesis_repo/manuscript/figures/fig_7_8_multiseed_newcam.png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B:/SE4AI/thesis_repo/docs/11_camera_rl_training.md (§8.5)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B:/SE4AI/thesis_repo/manuscript/chapters/chapter_07_training_specification.md (§7.5.3–§7.5.4)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B:/SE4AI/thesis_repo/docs/CHANGELOG.md (13 July 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SAC was more sample-efficient, but it revealed two separable degradation mechanisms. The abrupt cliff tracked the learned temperature approaching zero; the slower decay was prevented within the bounded probe by a larger replay buffer.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Comparison caveat: the 25k pair is an early matched pilot, not an algorithm verdict. The long runs were stopped once their mechanisms were characterised.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B:/SE4AI/thesis_repo/experiments/sim/training/sac_newcam_complex_b_2024_1M/ppo_vs_sac_1d_1M_curve.png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B:/SE4AI/thesis_repo/docs/11_camera_rl_training.md (§4.2)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B:/SE4AI/thesis_repo/docs/DECISIONS.md (D-60)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B:/SE4AI/thesis_repo/docs/CHANGELOG.md (15–20 July 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the first qualified 2-D SAC policy was too weak; a properly trained 2-D PPO policy recovered the driver quality. Deterministic closed-loop evaluation selected 550k, not the 475k reward peak.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Qualification: the nominal run had no C-01/C-02/C-03/C-05 activations, but C-06 was active. The final campaign later measured this rate-limiter dependence explicitly.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Reward caveat: 1-D and 2-D totals are not directly comparable because the action/reward contract, random-start curriculum, and episode horizon differ.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B:/SE4AI/thesis_repo/manuscript/figures/auto/fig_ppo2d_training_curve.png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B:/SE4AI/thesis_repo/docs/DECISIONS.md (D-59, D-60, D-65, D-66)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B:/SE4AI/thesis_repo/experiments/sim/campaign_2d_margin022/CAMPAIGN_2D_ANALYSIS.md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B:/SE4AI/thesis_repo/experiments/sim/campaign_2d_ppo550k/CAMPAIGN_2D_PPO550K_ANALYSIS.md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B:/SE4AI/thesis_repo/experiments/sim/runs/rl_ppo2d_cap022_550000_nom_4k4/summary.json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the final campaign answers the weak-SAC uncertainty. Better training recovered availability while the cage still removed every in-ODD road-edge contact committed by the bare policy.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Literal result: NOT SATISFIED only through SR-002/003 and SC-EDGE-01's &lt;2 s recovery-performance clause. The campaign recorded 0 emergencies there and no SR-CL-A safety predicate was breached.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Residuals: recovery ringing remains a performance limitation, and SR-010 co-activation remains a cage-arbitration design issue.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Chart data: final 2-D PPO 550k road-edge contacts — enforcement 0 in-ODD / 56 out-of-ODD; monitoring 60 in-ODD / 217 out-of-ODD.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B:/SE4AI/thesis_repo/experiments/sim/campaign_2d_ppo550k/CAMPAIGN_2D_PPO550K_ANALYSIS.md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B:/SE4AI/thesis_repo/experiments/sim/campaign_2d_ppo550k/campaign_report.json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B:/SE4AI/thesis_repo/experiments/sim/campaign_2d_ppo550k/failure_mode_breakdown.json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B:/SE4AI/thesis_repo/experiments/sim/campaign_2d_ppo550k/rescore_recovery_clause_d68.json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B:/SE4AI/thesis_repo/docs/DECISIONS.md (D-66, D-68, D-69)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Message: the final 2-D evaluation sharpens the cage claim. C-01/C-02/C-03/C-05 stay latent in short nominal operation, but C-06 is load-bearing over long endurance and the cage removes all 60 in-ODD contacts seen with monitoring only.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Interpretation limit: dependence on C-06 is measured; co-adaptation during training is an inference that would require an unrun ablation to establish causally.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B:/SE4AI/thesis_repo/experiments/sim/campaign_2d_ppo550k/CAMPAIGN_2D_PPO550K_ANALYSIS.md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B:/SE4AI/thesis_repo/experiments/sim/campaign_2d_ppo550k/campaign_report.json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B:/SE4AI/thesis_repo/experiments/sim/campaign_2d_ppo550k/failure_mode_breakdown.json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B:/SE4AI/thesis_repo/docs/DECISIONS.md (D-66, D-69)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Closing: the simulation programme is complete and the 2-D PPO 550k campaign is the verdict of record. The literal NOT SATISFIED result is reconciled because its only SR-CL-A blockers are the recovery-time performance clause; no safety limit was breached.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t>The one simulation requirement recorded as Not satisfied is SR-010 (CL-B, non-vetoing): 16/85 in-ODD co-activation grid points breach M-S1. Physical deployment and the hardware-only ODD-3.A_LAT_MAX evidence remain open.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/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B:/SE4AI/thesis_repo/docs/DECISIONS.md (D-68, D-69)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B:/SE4AI/thesis_repo/docs/07_traceability_matrix.md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B:/SE4AI/thesis_repo/docs/17_physical_deployment.md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B:/SE4AI/thesis_repo/experiments/sim/campaign_2d_ppo550k/CAMPAIGN_2D_PPO550K_ANALYSIS.md</a:t>
            </a: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B:/SE4AI/thesis_repo/docs/CHANGELOG.md (31 July 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D405CB49-17C5-4D3E-8794-A24BD30E5EE9}"/>
              </a:ext>
            </a:extLst>
          </p:cNvPr>
          <p:cNvSpPr>
            <a:spLocks noGrp="1"/>
          </p:cNvSpPr>
          <p:nvPr>
            <p:ph type="ftr" idx="1"/>
          </p:nvPr>
        </p:nvSpPr>
        <p:spPr>
          <a:xfrm>
            <a:off x="393840" y="6279840"/>
            <a:ext cx="356832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98B25398-4321-420B-A028-F9DCD7A998EF}"/>
              </a:ext>
            </a:extLst>
          </p:cNvPr>
          <p:cNvSpPr>
            <a:spLocks noGrp="1"/>
          </p:cNvSpPr>
          <p:nvPr>
            <p:ph type="sldNum" idx="2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E01102C-6BA9-4CDC-9B2A-6387ED7B5A79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‹#›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PlaceHolder 3">
            <a:extLst>
              <a:ext uri="{FF2B5EF4-FFF2-40B4-BE49-F238E27FC236}">
                <a16:creationId xmlns:a16="http://schemas.microsoft.com/office/drawing/2014/main" id="{7F398397-D17B-4A38-9112-4DBA3CBE5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title style</a:t>
            </a:r>
          </a:p>
        </p:txBody>
      </p:sp>
      <p:sp>
        <p:nvSpPr>
          <p:cNvPr id="5" name="PlaceHolder 4">
            <a:extLst>
              <a:ext uri="{FF2B5EF4-FFF2-40B4-BE49-F238E27FC236}">
                <a16:creationId xmlns:a16="http://schemas.microsoft.com/office/drawing/2014/main" id="{7CB29045-392C-460F-B514-68EE192B229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>
            <a:extLst>
              <a:ext uri="{FF2B5EF4-FFF2-40B4-BE49-F238E27FC236}">
                <a16:creationId xmlns:a16="http://schemas.microsoft.com/office/drawing/2014/main" id="{F2763734-463E-4E9A-83DB-2582255D2BB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93840" y="2031840"/>
            <a:ext cx="11404080" cy="39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text styles</a:t>
            </a: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Second level</a:t>
            </a: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Third level</a:t>
            </a: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Fourth level</a:t>
            </a:r>
          </a:p>
          <a:p>
            <a: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Fifth level</a:t>
            </a:r>
          </a:p>
        </p:txBody>
      </p:sp>
      <p:sp>
        <p:nvSpPr>
          <p:cNvPr id="7" name="PlaceHolder 2">
            <a:extLst>
              <a:ext uri="{FF2B5EF4-FFF2-40B4-BE49-F238E27FC236}">
                <a16:creationId xmlns:a16="http://schemas.microsoft.com/office/drawing/2014/main" id="{D7E2E0AE-F283-486D-80E2-BE3D9757E14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840" y="6279840"/>
            <a:ext cx="356832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8" name="PlaceHolder 3">
            <a:extLst>
              <a:ext uri="{FF2B5EF4-FFF2-40B4-BE49-F238E27FC236}">
                <a16:creationId xmlns:a16="http://schemas.microsoft.com/office/drawing/2014/main" id="{8F8DEE7D-A240-4A0F-8189-8BA7E22401E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FF24C20-998F-4AAE-A555-2D778DCBB6F0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‹#›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PlaceHolder 4">
            <a:extLst>
              <a:ext uri="{FF2B5EF4-FFF2-40B4-BE49-F238E27FC236}">
                <a16:creationId xmlns:a16="http://schemas.microsoft.com/office/drawing/2014/main" id="{68FF4979-6E7D-4FD5-A7F1-FD567AE78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ur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>
            <a:extLst>
              <a:ext uri="{FF2B5EF4-FFF2-40B4-BE49-F238E27FC236}">
                <a16:creationId xmlns:a16="http://schemas.microsoft.com/office/drawing/2014/main" id="{AE00A38C-357C-4B13-B3AD-00891718903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93840" y="2213640"/>
            <a:ext cx="2595600" cy="378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</a:t>
            </a:r>
          </a:p>
        </p:txBody>
      </p:sp>
      <p:sp>
        <p:nvSpPr>
          <p:cNvPr id="11" name="PlaceHolder 2">
            <a:extLst>
              <a:ext uri="{FF2B5EF4-FFF2-40B4-BE49-F238E27FC236}">
                <a16:creationId xmlns:a16="http://schemas.microsoft.com/office/drawing/2014/main" id="{27317833-389E-4B33-97A0-19CFB11435A1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393840" y="6279840"/>
            <a:ext cx="356832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12" name="PlaceHolder 3">
            <a:extLst>
              <a:ext uri="{FF2B5EF4-FFF2-40B4-BE49-F238E27FC236}">
                <a16:creationId xmlns:a16="http://schemas.microsoft.com/office/drawing/2014/main" id="{80EB88D9-340C-4659-BB01-FEC475A8F980}"/>
              </a:ext>
            </a:extLst>
          </p:cNvPr>
          <p:cNvSpPr>
            <a:spLocks noGrp="1"/>
          </p:cNvSpPr>
          <p:nvPr>
            <p:ph type="sldNum" idx="6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D711BA-CC66-41DA-886B-8CAB012629BA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‹#›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PlaceHolder 4">
            <a:extLst>
              <a:ext uri="{FF2B5EF4-FFF2-40B4-BE49-F238E27FC236}">
                <a16:creationId xmlns:a16="http://schemas.microsoft.com/office/drawing/2014/main" id="{C4CF6961-3099-45B2-B0A8-0B2203735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title style</a:t>
            </a:r>
          </a:p>
        </p:txBody>
      </p:sp>
      <p:sp>
        <p:nvSpPr>
          <p:cNvPr id="14" name="PlaceHolder 5">
            <a:extLst>
              <a:ext uri="{FF2B5EF4-FFF2-40B4-BE49-F238E27FC236}">
                <a16:creationId xmlns:a16="http://schemas.microsoft.com/office/drawing/2014/main" id="{E9D21000-C743-4975-ACAF-938059A463C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335040" y="2213640"/>
            <a:ext cx="2595600" cy="378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</a:t>
            </a:r>
          </a:p>
        </p:txBody>
      </p:sp>
      <p:sp>
        <p:nvSpPr>
          <p:cNvPr id="15" name="PlaceHolder 6">
            <a:extLst>
              <a:ext uri="{FF2B5EF4-FFF2-40B4-BE49-F238E27FC236}">
                <a16:creationId xmlns:a16="http://schemas.microsoft.com/office/drawing/2014/main" id="{208C715B-E3A9-4008-8A3F-DDDCF3F6BE7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64360" y="2213640"/>
            <a:ext cx="2595600" cy="378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6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6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</a:t>
            </a:r>
          </a:p>
        </p:txBody>
      </p:sp>
      <p:sp>
        <p:nvSpPr>
          <p:cNvPr id="16" name="PlaceHolder 7">
            <a:extLst>
              <a:ext uri="{FF2B5EF4-FFF2-40B4-BE49-F238E27FC236}">
                <a16:creationId xmlns:a16="http://schemas.microsoft.com/office/drawing/2014/main" id="{9C15D39C-5BAC-4887-A90F-D1744782ACF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9205560" y="2213640"/>
            <a:ext cx="2595600" cy="3780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>
            <a:extLst>
              <a:ext uri="{FF2B5EF4-FFF2-40B4-BE49-F238E27FC236}">
                <a16:creationId xmlns:a16="http://schemas.microsoft.com/office/drawing/2014/main" id="{D8F1228B-7C74-4292-99F3-97B76CF7F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1041480"/>
            <a:ext cx="7492680" cy="2491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sz="6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6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title style</a:t>
            </a:r>
          </a:p>
        </p:txBody>
      </p:sp>
      <p:sp>
        <p:nvSpPr>
          <p:cNvPr id="18" name="PlaceHolder 2">
            <a:extLst>
              <a:ext uri="{FF2B5EF4-FFF2-40B4-BE49-F238E27FC236}">
                <a16:creationId xmlns:a16="http://schemas.microsoft.com/office/drawing/2014/main" id="{1F93F3BD-0C23-4CE6-972E-2521CE991F3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  <a:lvl2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  <a:lvl6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6pPr>
            <a:lvl7pPr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the outline text format</a:t>
            </a: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Second Outline Level</a:t>
            </a: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Third Outline Level</a:t>
            </a: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Fourth Outline Level</a:t>
            </a: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Fifth Outline Level</a:t>
            </a: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Sixth Outline Level</a:t>
            </a: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ree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>
            <a:extLst>
              <a:ext uri="{FF2B5EF4-FFF2-40B4-BE49-F238E27FC236}">
                <a16:creationId xmlns:a16="http://schemas.microsoft.com/office/drawing/2014/main" id="{3A1AF121-906E-48BB-8C5D-E140C014BD8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93840" y="2031840"/>
            <a:ext cx="3568320" cy="39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text styles</a:t>
            </a: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Second level</a:t>
            </a: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Third level</a:t>
            </a: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Fourth level</a:t>
            </a:r>
          </a:p>
          <a:p>
            <a: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Fifth level</a:t>
            </a:r>
          </a:p>
        </p:txBody>
      </p:sp>
      <p:sp>
        <p:nvSpPr>
          <p:cNvPr id="20" name="PlaceHolder 2">
            <a:extLst>
              <a:ext uri="{FF2B5EF4-FFF2-40B4-BE49-F238E27FC236}">
                <a16:creationId xmlns:a16="http://schemas.microsoft.com/office/drawing/2014/main" id="{855F9F77-43C5-4FB6-B081-7325EB3214B8}"/>
              </a:ext>
            </a:extLst>
          </p:cNvPr>
          <p:cNvSpPr>
            <a:spLocks noGrp="1"/>
          </p:cNvSpPr>
          <p:nvPr>
            <p:ph type="ftr" idx="7"/>
          </p:nvPr>
        </p:nvSpPr>
        <p:spPr>
          <a:xfrm>
            <a:off x="393840" y="6279840"/>
            <a:ext cx="356832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1" name="PlaceHolder 3">
            <a:extLst>
              <a:ext uri="{FF2B5EF4-FFF2-40B4-BE49-F238E27FC236}">
                <a16:creationId xmlns:a16="http://schemas.microsoft.com/office/drawing/2014/main" id="{44B6B85B-9973-4EF2-ACFA-2FE41BF69FA9}"/>
              </a:ext>
            </a:extLst>
          </p:cNvPr>
          <p:cNvSpPr>
            <a:spLocks noGrp="1"/>
          </p:cNvSpPr>
          <p:nvPr>
            <p:ph type="sldNum" idx="8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D28E3D-3202-4B12-9355-635FD578FF6B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‹#›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PlaceHolder 4">
            <a:extLst>
              <a:ext uri="{FF2B5EF4-FFF2-40B4-BE49-F238E27FC236}">
                <a16:creationId xmlns:a16="http://schemas.microsoft.com/office/drawing/2014/main" id="{942E2395-E5F1-4FC3-9C8E-48BDE803D48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317840" y="2031840"/>
            <a:ext cx="3568320" cy="39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text styles</a:t>
            </a: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Second level</a:t>
            </a: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Third level</a:t>
            </a: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Fourth level</a:t>
            </a:r>
          </a:p>
          <a:p>
            <a: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Fifth level</a:t>
            </a:r>
          </a:p>
        </p:txBody>
      </p:sp>
      <p:sp>
        <p:nvSpPr>
          <p:cNvPr id="23" name="PlaceHolder 5">
            <a:extLst>
              <a:ext uri="{FF2B5EF4-FFF2-40B4-BE49-F238E27FC236}">
                <a16:creationId xmlns:a16="http://schemas.microsoft.com/office/drawing/2014/main" id="{C9A00FAF-247E-48C8-9206-221D6874F61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8232120" y="2031840"/>
            <a:ext cx="3568320" cy="39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text styles</a:t>
            </a: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Second level</a:t>
            </a: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Third level</a:t>
            </a: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Fourth level</a:t>
            </a:r>
          </a:p>
          <a:p>
            <a: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Fifth level</a:t>
            </a:r>
          </a:p>
        </p:txBody>
      </p:sp>
      <p:sp>
        <p:nvSpPr>
          <p:cNvPr id="24" name="PlaceHolder 6">
            <a:extLst>
              <a:ext uri="{FF2B5EF4-FFF2-40B4-BE49-F238E27FC236}">
                <a16:creationId xmlns:a16="http://schemas.microsoft.com/office/drawing/2014/main" id="{79F9C56E-5612-4CA6-A5F0-5AE80A22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>
            <a:extLst>
              <a:ext uri="{FF2B5EF4-FFF2-40B4-BE49-F238E27FC236}">
                <a16:creationId xmlns:a16="http://schemas.microsoft.com/office/drawing/2014/main" id="{2E907CF2-A294-4ACA-A474-5AB5E2E7E19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93840" y="2031840"/>
            <a:ext cx="5536800" cy="39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text styles</a:t>
            </a: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Second level</a:t>
            </a: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Third level</a:t>
            </a: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Fourth level</a:t>
            </a:r>
          </a:p>
          <a:p>
            <a: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Fifth level</a:t>
            </a:r>
          </a:p>
        </p:txBody>
      </p:sp>
      <p:sp>
        <p:nvSpPr>
          <p:cNvPr id="26" name="PlaceHolder 2">
            <a:extLst>
              <a:ext uri="{FF2B5EF4-FFF2-40B4-BE49-F238E27FC236}">
                <a16:creationId xmlns:a16="http://schemas.microsoft.com/office/drawing/2014/main" id="{AC97D963-0B93-4C0F-9796-5058009390C6}"/>
              </a:ext>
            </a:extLst>
          </p:cNvPr>
          <p:cNvSpPr>
            <a:spLocks noGrp="1"/>
          </p:cNvSpPr>
          <p:nvPr>
            <p:ph type="ftr" idx="9"/>
          </p:nvPr>
        </p:nvSpPr>
        <p:spPr>
          <a:xfrm>
            <a:off x="393840" y="6279840"/>
            <a:ext cx="356832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27" name="PlaceHolder 3">
            <a:extLst>
              <a:ext uri="{FF2B5EF4-FFF2-40B4-BE49-F238E27FC236}">
                <a16:creationId xmlns:a16="http://schemas.microsoft.com/office/drawing/2014/main" id="{74FFE7C1-3F82-4CCE-B1A0-B156D5712047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0455F50-D861-4A83-9FF1-98029A403260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‹#›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8" name="PlaceHolder 4">
            <a:extLst>
              <a:ext uri="{FF2B5EF4-FFF2-40B4-BE49-F238E27FC236}">
                <a16:creationId xmlns:a16="http://schemas.microsoft.com/office/drawing/2014/main" id="{516CE8CC-6F8E-4487-9AF1-0A96788745A3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256440" y="2031840"/>
            <a:ext cx="5536800" cy="396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  <a:def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sz="2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text styles</a:t>
            </a:r>
          </a:p>
          <a:p>
            <a:pPr marL="6858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2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Second level</a:t>
            </a:r>
          </a:p>
          <a:p>
            <a:pPr marL="11430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Third level</a:t>
            </a:r>
          </a:p>
          <a:p>
            <a:pPr marL="16002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Fourth level</a:t>
            </a:r>
          </a:p>
          <a:p>
            <a:pPr marL="2057400" indent="-228600" algn="l" defTabSz="914400">
              <a:lnSpc>
                <a:spcPct val="9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Fifth level</a:t>
            </a:r>
          </a:p>
        </p:txBody>
      </p:sp>
      <p:sp>
        <p:nvSpPr>
          <p:cNvPr id="29" name="PlaceHolder 5">
            <a:extLst>
              <a:ext uri="{FF2B5EF4-FFF2-40B4-BE49-F238E27FC236}">
                <a16:creationId xmlns:a16="http://schemas.microsoft.com/office/drawing/2014/main" id="{794F2321-8B49-482B-8692-2245E553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indent="0" algn="l" defTabSz="914400">
              <a:lnSpc>
                <a:spcPct val="90000"/>
              </a:lnSpc>
              <a:buNone/>
              <a:def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>
            <a:extLst>
              <a:ext uri="{FF2B5EF4-FFF2-40B4-BE49-F238E27FC236}">
                <a16:creationId xmlns:a16="http://schemas.microsoft.com/office/drawing/2014/main" id="{880C5C86-196B-40E7-85C7-A4CFA015B41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93840" y="6279840"/>
            <a:ext cx="356832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ctr">
              <a:buNone/>
              <a:def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indent="0" algn="ctr">
              <a:buNone/>
            </a:pPr>
            <a:r>
              <a:rPr sz="1400" b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&lt;footer&gt;</a:t>
            </a:r>
          </a:p>
        </p:txBody>
      </p:sp>
      <p:sp>
        <p:nvSpPr>
          <p:cNvPr id="31" name="PlaceHolder 2">
            <a:extLst>
              <a:ext uri="{FF2B5EF4-FFF2-40B4-BE49-F238E27FC236}">
                <a16:creationId xmlns:a16="http://schemas.microsoft.com/office/drawing/2014/main" id="{E445740F-D293-46B8-92B3-987B4643C45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C367FC-BBBE-49B0-8BF2-7BBE22C9040F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‹#›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>
            <a:extLst>
              <a:ext uri="{FF2B5EF4-FFF2-40B4-BE49-F238E27FC236}">
                <a16:creationId xmlns:a16="http://schemas.microsoft.com/office/drawing/2014/main" id="{C43CCBE2-FDBE-46CE-BF0C-B68C84CF3305}"/>
              </a:ext>
            </a:extLst>
          </p:cNvPr>
          <p:cNvSpPr>
            <a:spLocks noGrp="1"/>
          </p:cNvSpPr>
          <p:nvPr>
            <p:ph type="sldNum" idx="16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EE9F515-FD0D-4173-A097-F37CEAD9E389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1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9" name="PlaceHolder 2">
            <a:extLst>
              <a:ext uri="{FF2B5EF4-FFF2-40B4-BE49-F238E27FC236}">
                <a16:creationId xmlns:a16="http://schemas.microsoft.com/office/drawing/2014/main" id="{EF582693-865C-48C6-A95B-1C4E8ABDC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669276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Policy under safety-cage </a:t>
            </a:r>
          </a:p>
        </p:txBody>
      </p:sp>
      <p:sp>
        <p:nvSpPr>
          <p:cNvPr id="41" name="Google Shape;534;p58">
            <a:extLst>
              <a:ext uri="{FF2B5EF4-FFF2-40B4-BE49-F238E27FC236}">
                <a16:creationId xmlns:a16="http://schemas.microsoft.com/office/drawing/2014/main" id="{9766E247-92CE-4A39-AC12-3755D4B22B50}"/>
              </a:ext>
            </a:extLst>
          </p:cNvPr>
          <p:cNvSpPr>
            <a:spLocks noGrp="1"/>
          </p:cNvSpPr>
          <p:nvPr/>
        </p:nvSpPr>
        <p:spPr>
          <a:xfrm>
            <a:off x="393840" y="2031840"/>
            <a:ext cx="5536800" cy="39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Decoupled architecture</a:t>
            </a:r>
          </a:p>
          <a:p>
            <a:pPr marL="216000" indent="-216000" defTabSz="914400">
              <a:lnSpc>
                <a:spcPct val="114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The CNN consumes the camera feed and proposes the action.</a:t>
            </a:r>
          </a:p>
          <a:p>
            <a:pPr marL="216000" indent="-216000" defTabSz="914400">
              <a:lnSpc>
                <a:spcPct val="114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In parallel, a deterministic CV estimator computes the safety state.</a:t>
            </a:r>
          </a:p>
          <a:p>
            <a:pPr marL="216000" indent="-216000" defTabSz="914400">
              <a:lnSpc>
                <a:spcPct val="114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/>
              <a:buChar char=""/>
              <a:tabLst>
                <a:tab pos="0" algn="l"/>
              </a:tabLst>
            </a:pPr>
            <a:r>
              <a:rPr sz="18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The cage applies six rules before /</a:t>
            </a:r>
            <a:r>
              <a:rPr sz="1800" b="0" u="none" dirty="0" err="1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cmd_vel</a:t>
            </a:r>
            <a:r>
              <a:rPr sz="18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 and logs every intervention.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br>
              <a:rPr dirty="0"/>
            </a:br>
            <a:r>
              <a:rPr sz="18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The figure shows the 1‑D predecessor; the 2‑D trunk preserves this separation and adds throttle.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5525F6-23A5-12EF-82B7-FE88C77126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0640" y="819864"/>
            <a:ext cx="5917688" cy="5134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>
            <a:extLst>
              <a:ext uri="{FF2B5EF4-FFF2-40B4-BE49-F238E27FC236}">
                <a16:creationId xmlns:a16="http://schemas.microsoft.com/office/drawing/2014/main" id="{6F1BBDE4-29E5-4B88-B70C-F44F4ECC44D5}"/>
              </a:ext>
            </a:extLst>
          </p:cNvPr>
          <p:cNvSpPr>
            <a:spLocks noGrp="1"/>
          </p:cNvSpPr>
          <p:nvPr>
            <p:ph type="sldNum" idx="17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C0C08E2-17D3-4857-8B7A-F625A47B0202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2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" name="PlaceHolder 2">
            <a:extLst>
              <a:ext uri="{FF2B5EF4-FFF2-40B4-BE49-F238E27FC236}">
                <a16:creationId xmlns:a16="http://schemas.microsoft.com/office/drawing/2014/main" id="{FE64BBF7-780B-4A6C-A59D-BFB66D42A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520"/>
            <a:ext cx="11404080" cy="1282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800" b="0" u="none">
                <a:solidFill>
                  <a:schemeClr val="dk1"/>
                </a:solidFill>
                <a:latin typeface="Helvetica Neue Medium"/>
                <a:ea typeface="Helvetica Neue Medium"/>
                <a:cs typeface="Helvetica Neue Medium"/>
              </a:rPr>
              <a:t>End-to-end traceability</a:t>
            </a:r>
          </a:p>
        </p:txBody>
      </p:sp>
      <p:sp>
        <p:nvSpPr>
          <p:cNvPr id="44" name="Rounded Rectangle 9">
            <a:extLst>
              <a:ext uri="{FF2B5EF4-FFF2-40B4-BE49-F238E27FC236}">
                <a16:creationId xmlns:a16="http://schemas.microsoft.com/office/drawing/2014/main" id="{A09D851E-142C-472D-ACD0-4CA105C8A755}"/>
              </a:ext>
            </a:extLst>
          </p:cNvPr>
          <p:cNvSpPr>
            <a:spLocks noGrp="1"/>
          </p:cNvSpPr>
          <p:nvPr/>
        </p:nvSpPr>
        <p:spPr>
          <a:xfrm>
            <a:off x="4308840" y="3365640"/>
            <a:ext cx="3568320" cy="262872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5" name="Rounded Rectangle 10">
            <a:extLst>
              <a:ext uri="{FF2B5EF4-FFF2-40B4-BE49-F238E27FC236}">
                <a16:creationId xmlns:a16="http://schemas.microsoft.com/office/drawing/2014/main" id="{5CBEB974-C0B5-4D3F-918D-142DA6125BDD}"/>
              </a:ext>
            </a:extLst>
          </p:cNvPr>
          <p:cNvSpPr>
            <a:spLocks noGrp="1"/>
          </p:cNvSpPr>
          <p:nvPr/>
        </p:nvSpPr>
        <p:spPr>
          <a:xfrm>
            <a:off x="8229600" y="3365640"/>
            <a:ext cx="3568320" cy="262872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46" name="Content Placeholder 9">
            <a:extLst>
              <a:ext uri="{FF2B5EF4-FFF2-40B4-BE49-F238E27FC236}">
                <a16:creationId xmlns:a16="http://schemas.microsoft.com/office/drawing/2014/main" id="{8AD849CF-3FDF-4DD9-B4CB-58C3B2A3861C}"/>
              </a:ext>
            </a:extLst>
          </p:cNvPr>
          <p:cNvSpPr>
            <a:spLocks noGrp="1"/>
          </p:cNvSpPr>
          <p:nvPr/>
        </p:nvSpPr>
        <p:spPr>
          <a:xfrm>
            <a:off x="4621680" y="4146120"/>
            <a:ext cx="2949120" cy="143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Runtime assurance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Six policy-independent rules</a:t>
            </a:r>
          </a:p>
        </p:txBody>
      </p:sp>
      <p:sp>
        <p:nvSpPr>
          <p:cNvPr id="47" name="Content Placeholder 10">
            <a:extLst>
              <a:ext uri="{FF2B5EF4-FFF2-40B4-BE49-F238E27FC236}">
                <a16:creationId xmlns:a16="http://schemas.microsoft.com/office/drawing/2014/main" id="{B1B8E0AF-16F8-4FDD-9497-C5465F2CD2D6}"/>
              </a:ext>
            </a:extLst>
          </p:cNvPr>
          <p:cNvSpPr>
            <a:spLocks noGrp="1"/>
          </p:cNvSpPr>
          <p:nvPr/>
        </p:nvSpPr>
        <p:spPr>
          <a:xfrm>
            <a:off x="8535960" y="4146120"/>
            <a:ext cx="2949120" cy="143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Verdict spine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28 scenarios, 19 metrics</a:t>
            </a:r>
          </a:p>
        </p:txBody>
      </p:sp>
      <p:sp>
        <p:nvSpPr>
          <p:cNvPr id="48" name="Google Shape;340;p61">
            <a:extLst>
              <a:ext uri="{FF2B5EF4-FFF2-40B4-BE49-F238E27FC236}">
                <a16:creationId xmlns:a16="http://schemas.microsoft.com/office/drawing/2014/main" id="{59D0BF93-8674-48CB-BF47-654DCD1209F2}"/>
              </a:ext>
            </a:extLst>
          </p:cNvPr>
          <p:cNvSpPr>
            <a:spLocks noGrp="1"/>
          </p:cNvSpPr>
          <p:nvPr/>
        </p:nvSpPr>
        <p:spPr>
          <a:xfrm>
            <a:off x="4627800" y="3693960"/>
            <a:ext cx="233280" cy="233280"/>
          </a:xfrm>
          <a:custGeom>
            <a:avLst/>
            <a:gdLst>
              <a:gd name="textAreaLeft" fmla="*/ 0 w 233280"/>
              <a:gd name="textAreaRight" fmla="*/ 233640 w 233280"/>
              <a:gd name="textAreaTop" fmla="*/ 0 h 233280"/>
              <a:gd name="textAreaBottom" fmla="*/ 233640 h 23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endParaRPr/>
          </a:p>
        </p:txBody>
      </p:sp>
      <p:sp>
        <p:nvSpPr>
          <p:cNvPr id="49" name="Google Shape;340;p61">
            <a:extLst>
              <a:ext uri="{FF2B5EF4-FFF2-40B4-BE49-F238E27FC236}">
                <a16:creationId xmlns:a16="http://schemas.microsoft.com/office/drawing/2014/main" id="{25BE50F6-F1F7-470B-820A-F4E0A28F8D52}"/>
              </a:ext>
            </a:extLst>
          </p:cNvPr>
          <p:cNvSpPr>
            <a:spLocks noGrp="1"/>
          </p:cNvSpPr>
          <p:nvPr/>
        </p:nvSpPr>
        <p:spPr>
          <a:xfrm>
            <a:off x="8533440" y="3693960"/>
            <a:ext cx="233280" cy="233280"/>
          </a:xfrm>
          <a:custGeom>
            <a:avLst/>
            <a:gdLst>
              <a:gd name="textAreaLeft" fmla="*/ 0 w 233280"/>
              <a:gd name="textAreaRight" fmla="*/ 233640 w 233280"/>
              <a:gd name="textAreaTop" fmla="*/ 0 h 233280"/>
              <a:gd name="textAreaBottom" fmla="*/ 233640 h 23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endParaRPr/>
          </a:p>
        </p:txBody>
      </p:sp>
      <p:sp>
        <p:nvSpPr>
          <p:cNvPr id="50" name="Rounded Rectangle 5">
            <a:extLst>
              <a:ext uri="{FF2B5EF4-FFF2-40B4-BE49-F238E27FC236}">
                <a16:creationId xmlns:a16="http://schemas.microsoft.com/office/drawing/2014/main" id="{73B86C7E-84A3-45D1-82C9-890476B98FD9}"/>
              </a:ext>
            </a:extLst>
          </p:cNvPr>
          <p:cNvSpPr>
            <a:spLocks noGrp="1"/>
          </p:cNvSpPr>
          <p:nvPr/>
        </p:nvSpPr>
        <p:spPr>
          <a:xfrm>
            <a:off x="388440" y="3365640"/>
            <a:ext cx="3568320" cy="262872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51" name="Content Placeholder 9">
            <a:extLst>
              <a:ext uri="{FF2B5EF4-FFF2-40B4-BE49-F238E27FC236}">
                <a16:creationId xmlns:a16="http://schemas.microsoft.com/office/drawing/2014/main" id="{2FB27F4D-7870-4EAE-90A4-F40987723ECB}"/>
              </a:ext>
            </a:extLst>
          </p:cNvPr>
          <p:cNvSpPr>
            <a:spLocks noGrp="1"/>
          </p:cNvSpPr>
          <p:nvPr/>
        </p:nvSpPr>
        <p:spPr>
          <a:xfrm>
            <a:off x="701280" y="4146120"/>
            <a:ext cx="2949120" cy="143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Traceability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 hazards and 14 linked SRs </a:t>
            </a:r>
          </a:p>
        </p:txBody>
      </p:sp>
      <p:sp>
        <p:nvSpPr>
          <p:cNvPr id="52" name="Google Shape;340;p61">
            <a:extLst>
              <a:ext uri="{FF2B5EF4-FFF2-40B4-BE49-F238E27FC236}">
                <a16:creationId xmlns:a16="http://schemas.microsoft.com/office/drawing/2014/main" id="{C4629154-200C-45B3-8CE7-D06702F62157}"/>
              </a:ext>
            </a:extLst>
          </p:cNvPr>
          <p:cNvSpPr>
            <a:spLocks noGrp="1"/>
          </p:cNvSpPr>
          <p:nvPr/>
        </p:nvSpPr>
        <p:spPr>
          <a:xfrm>
            <a:off x="707040" y="3693960"/>
            <a:ext cx="233280" cy="233280"/>
          </a:xfrm>
          <a:custGeom>
            <a:avLst/>
            <a:gdLst>
              <a:gd name="textAreaLeft" fmla="*/ 0 w 233280"/>
              <a:gd name="textAreaRight" fmla="*/ 233640 w 233280"/>
              <a:gd name="textAreaTop" fmla="*/ 0 h 233280"/>
              <a:gd name="textAreaBottom" fmla="*/ 233640 h 2332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8160" tIns="38160" rIns="38160" bIns="38160" anchor="ctr">
            <a:noAutofit/>
          </a:bodyPr>
          <a:lstStyle/>
          <a:p>
            <a:endParaRPr/>
          </a:p>
        </p:txBody>
      </p:sp>
      <p:sp>
        <p:nvSpPr>
          <p:cNvPr id="53" name="Content Placeholder 15">
            <a:extLst>
              <a:ext uri="{FF2B5EF4-FFF2-40B4-BE49-F238E27FC236}">
                <a16:creationId xmlns:a16="http://schemas.microsoft.com/office/drawing/2014/main" id="{F655993A-9373-44BD-8440-4B567DEEF907}"/>
              </a:ext>
            </a:extLst>
          </p:cNvPr>
          <p:cNvSpPr>
            <a:spLocks noGrp="1"/>
          </p:cNvSpPr>
          <p:nvPr/>
        </p:nvSpPr>
        <p:spPr>
          <a:xfrm>
            <a:off x="393840" y="1450440"/>
            <a:ext cx="11404080" cy="16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Hazard → Safety Requirement → Cage Rule → Scenario → Metric → Logged Evidence → Verdict.</a:t>
            </a:r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sz="1600" b="0" u="none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0932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>
            <a:extLst>
              <a:ext uri="{FF2B5EF4-FFF2-40B4-BE49-F238E27FC236}">
                <a16:creationId xmlns:a16="http://schemas.microsoft.com/office/drawing/2014/main" id="{B29B97CE-5084-4212-A73F-7158CD97EEDB}"/>
              </a:ext>
            </a:extLst>
          </p:cNvPr>
          <p:cNvSpPr>
            <a:spLocks noGrp="1"/>
          </p:cNvSpPr>
          <p:nvPr>
            <p:ph type="sldNum" idx="18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924E4D9-73BA-4E45-A72A-878EECA13AAE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3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5" name="PlaceHolder 2">
            <a:extLst>
              <a:ext uri="{FF2B5EF4-FFF2-40B4-BE49-F238E27FC236}">
                <a16:creationId xmlns:a16="http://schemas.microsoft.com/office/drawing/2014/main" id="{22D14FA0-ED58-4058-BAA6-0975546C8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RL policy state</a:t>
            </a:r>
          </a:p>
        </p:txBody>
      </p:sp>
      <p:cxnSp>
        <p:nvCxnSpPr>
          <p:cNvPr id="74" name="Google Shape;2259;p159"/>
          <p:cNvCxnSpPr>
            <a:stCxn id="57" idx="2"/>
          </p:cNvCxnSpPr>
          <p:nvPr/>
        </p:nvCxnSpPr>
        <p:spPr>
          <a:xfrm>
            <a:off x="337680" y="5341680"/>
            <a:ext cx="122457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7" name="Google Shape;2260;p159">
            <a:extLst>
              <a:ext uri="{FF2B5EF4-FFF2-40B4-BE49-F238E27FC236}">
                <a16:creationId xmlns:a16="http://schemas.microsoft.com/office/drawing/2014/main" id="{95D551F6-ACB3-4D41-BDD1-7786BBD486E6}"/>
              </a:ext>
            </a:extLst>
          </p:cNvPr>
          <p:cNvSpPr>
            <a:spLocks noGrp="1"/>
          </p:cNvSpPr>
          <p:nvPr/>
        </p:nvSpPr>
        <p:spPr>
          <a:xfrm>
            <a:off x="337680" y="5288040"/>
            <a:ext cx="106920" cy="106920"/>
          </a:xfrm>
          <a:prstGeom prst="ellipse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3640" tIns="37800" rIns="53640" bIns="37800" anchor="ctr">
            <a:noAutofit/>
          </a:bodyPr>
          <a:lstStyle/>
          <a:p>
            <a:endParaRPr/>
          </a:p>
        </p:txBody>
      </p:sp>
      <p:sp>
        <p:nvSpPr>
          <p:cNvPr id="58" name="Google Shape;2261;p159">
            <a:extLst>
              <a:ext uri="{FF2B5EF4-FFF2-40B4-BE49-F238E27FC236}">
                <a16:creationId xmlns:a16="http://schemas.microsoft.com/office/drawing/2014/main" id="{9A8C3164-731C-4819-B296-05A4DD3C4DB1}"/>
              </a:ext>
            </a:extLst>
          </p:cNvPr>
          <p:cNvSpPr>
            <a:spLocks noGrp="1"/>
          </p:cNvSpPr>
          <p:nvPr/>
        </p:nvSpPr>
        <p:spPr>
          <a:xfrm>
            <a:off x="4251600" y="5288040"/>
            <a:ext cx="106920" cy="106920"/>
          </a:xfrm>
          <a:prstGeom prst="ellipse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3640" tIns="37800" rIns="53640" bIns="37800" anchor="ctr">
            <a:noAutofit/>
          </a:bodyPr>
          <a:lstStyle/>
          <a:p>
            <a:endParaRPr/>
          </a:p>
        </p:txBody>
      </p:sp>
      <p:sp>
        <p:nvSpPr>
          <p:cNvPr id="59" name="Google Shape;2262;p159">
            <a:extLst>
              <a:ext uri="{FF2B5EF4-FFF2-40B4-BE49-F238E27FC236}">
                <a16:creationId xmlns:a16="http://schemas.microsoft.com/office/drawing/2014/main" id="{5740C5E2-DDAD-45BD-8936-FFA0F5F30FBD}"/>
              </a:ext>
            </a:extLst>
          </p:cNvPr>
          <p:cNvSpPr>
            <a:spLocks noGrp="1"/>
          </p:cNvSpPr>
          <p:nvPr/>
        </p:nvSpPr>
        <p:spPr>
          <a:xfrm>
            <a:off x="8175960" y="5288040"/>
            <a:ext cx="106920" cy="106920"/>
          </a:xfrm>
          <a:prstGeom prst="ellipse">
            <a:avLst/>
          </a:pr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53640" tIns="37800" rIns="53640" bIns="37800" anchor="ctr">
            <a:noAutofit/>
          </a:bodyPr>
          <a:lstStyle/>
          <a:p>
            <a:endParaRPr/>
          </a:p>
        </p:txBody>
      </p:sp>
      <p:sp>
        <p:nvSpPr>
          <p:cNvPr id="60" name="Rounded Rectangle 19">
            <a:extLst>
              <a:ext uri="{FF2B5EF4-FFF2-40B4-BE49-F238E27FC236}">
                <a16:creationId xmlns:a16="http://schemas.microsoft.com/office/drawing/2014/main" id="{5DB2E851-6944-45DC-BB53-D525B11D185E}"/>
              </a:ext>
            </a:extLst>
          </p:cNvPr>
          <p:cNvSpPr>
            <a:spLocks noGrp="1"/>
          </p:cNvSpPr>
          <p:nvPr/>
        </p:nvSpPr>
        <p:spPr>
          <a:xfrm>
            <a:off x="393840" y="1401840"/>
            <a:ext cx="3568320" cy="361908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1" name="Content Placeholder 8">
            <a:extLst>
              <a:ext uri="{FF2B5EF4-FFF2-40B4-BE49-F238E27FC236}">
                <a16:creationId xmlns:a16="http://schemas.microsoft.com/office/drawing/2014/main" id="{7BDFBD76-0760-4AAF-A82D-77E1176E5DD8}"/>
              </a:ext>
            </a:extLst>
          </p:cNvPr>
          <p:cNvSpPr>
            <a:spLocks noGrp="1"/>
          </p:cNvSpPr>
          <p:nvPr/>
        </p:nvSpPr>
        <p:spPr>
          <a:xfrm>
            <a:off x="703440" y="1806840"/>
            <a:ext cx="2949120" cy="256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 - State vector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Methodological control arm.</a:t>
            </a:r>
            <a:br/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1,260 runs · 0 errors.</a:t>
            </a:r>
            <a:br/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Global SATISFIED; cage latent in‑ODD.</a:t>
            </a:r>
          </a:p>
        </p:txBody>
      </p:sp>
      <p:sp>
        <p:nvSpPr>
          <p:cNvPr id="62" name="Rounded Rectangle 21">
            <a:extLst>
              <a:ext uri="{FF2B5EF4-FFF2-40B4-BE49-F238E27FC236}">
                <a16:creationId xmlns:a16="http://schemas.microsoft.com/office/drawing/2014/main" id="{B3424815-DD4F-40D3-BF82-676AA21B7C68}"/>
              </a:ext>
            </a:extLst>
          </p:cNvPr>
          <p:cNvSpPr>
            <a:spLocks noGrp="1"/>
          </p:cNvSpPr>
          <p:nvPr/>
        </p:nvSpPr>
        <p:spPr>
          <a:xfrm>
            <a:off x="4308480" y="1401840"/>
            <a:ext cx="3568320" cy="361908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3" name="Content Placeholder 8">
            <a:extLst>
              <a:ext uri="{FF2B5EF4-FFF2-40B4-BE49-F238E27FC236}">
                <a16:creationId xmlns:a16="http://schemas.microsoft.com/office/drawing/2014/main" id="{F98264C3-815C-4C0C-95AE-848BAF240CA5}"/>
              </a:ext>
            </a:extLst>
          </p:cNvPr>
          <p:cNvSpPr>
            <a:spLocks noGrp="1"/>
          </p:cNvSpPr>
          <p:nvPr/>
        </p:nvSpPr>
        <p:spPr>
          <a:xfrm>
            <a:off x="4618080" y="1806840"/>
            <a:ext cx="2949120" cy="256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 - Camera · 1‑D action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CNN + independent CV.</a:t>
            </a:r>
            <a:br/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1,970 runs · G4 closed.</a:t>
            </a:r>
            <a:br/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cage becomes decisive.</a:t>
            </a:r>
          </a:p>
        </p:txBody>
      </p:sp>
      <p:sp>
        <p:nvSpPr>
          <p:cNvPr id="64" name="Rounded Rectangle 23">
            <a:extLst>
              <a:ext uri="{FF2B5EF4-FFF2-40B4-BE49-F238E27FC236}">
                <a16:creationId xmlns:a16="http://schemas.microsoft.com/office/drawing/2014/main" id="{232B69D7-C9FD-4CAE-8C98-D8E836A86B8A}"/>
              </a:ext>
            </a:extLst>
          </p:cNvPr>
          <p:cNvSpPr>
            <a:spLocks noGrp="1"/>
          </p:cNvSpPr>
          <p:nvPr/>
        </p:nvSpPr>
        <p:spPr>
          <a:xfrm>
            <a:off x="8237520" y="1401840"/>
            <a:ext cx="3568320" cy="361908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65" name="Content Placeholder 8">
            <a:extLst>
              <a:ext uri="{FF2B5EF4-FFF2-40B4-BE49-F238E27FC236}">
                <a16:creationId xmlns:a16="http://schemas.microsoft.com/office/drawing/2014/main" id="{0BB0A8BD-02AB-4BB7-B4E7-3F5D03D4A031}"/>
              </a:ext>
            </a:extLst>
          </p:cNvPr>
          <p:cNvSpPr>
            <a:spLocks noGrp="1"/>
          </p:cNvSpPr>
          <p:nvPr/>
        </p:nvSpPr>
        <p:spPr>
          <a:xfrm>
            <a:off x="8547120" y="1806840"/>
            <a:ext cx="2949120" cy="2566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Latest - Camera · 2-D action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PPO 550k · verdict of record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1,890 runs · 0 errors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Simulation programme closed.</a:t>
            </a:r>
          </a:p>
        </p:txBody>
      </p:sp>
      <p:sp>
        <p:nvSpPr>
          <p:cNvPr id="66" name="Text Placeholder 16">
            <a:extLst>
              <a:ext uri="{FF2B5EF4-FFF2-40B4-BE49-F238E27FC236}">
                <a16:creationId xmlns:a16="http://schemas.microsoft.com/office/drawing/2014/main" id="{A3EF4AB3-486A-428B-85B9-55E4C59458F3}"/>
              </a:ext>
            </a:extLst>
          </p:cNvPr>
          <p:cNvSpPr>
            <a:spLocks noGrp="1"/>
          </p:cNvSpPr>
          <p:nvPr/>
        </p:nvSpPr>
        <p:spPr>
          <a:xfrm>
            <a:off x="4251600" y="5602320"/>
            <a:ext cx="2595600" cy="39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JUN–JUL 2026</a:t>
            </a:r>
          </a:p>
        </p:txBody>
      </p:sp>
      <p:sp>
        <p:nvSpPr>
          <p:cNvPr id="67" name="Text Placeholder 16">
            <a:extLst>
              <a:ext uri="{FF2B5EF4-FFF2-40B4-BE49-F238E27FC236}">
                <a16:creationId xmlns:a16="http://schemas.microsoft.com/office/drawing/2014/main" id="{4BED78E0-F787-4271-869D-99516FACC0C9}"/>
              </a:ext>
            </a:extLst>
          </p:cNvPr>
          <p:cNvSpPr>
            <a:spLocks noGrp="1"/>
          </p:cNvSpPr>
          <p:nvPr/>
        </p:nvSpPr>
        <p:spPr>
          <a:xfrm>
            <a:off x="390960" y="5602320"/>
            <a:ext cx="2595600" cy="39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MAY–JUN 2026</a:t>
            </a:r>
          </a:p>
        </p:txBody>
      </p:sp>
      <p:sp>
        <p:nvSpPr>
          <p:cNvPr id="68" name="Text Placeholder 16">
            <a:extLst>
              <a:ext uri="{FF2B5EF4-FFF2-40B4-BE49-F238E27FC236}">
                <a16:creationId xmlns:a16="http://schemas.microsoft.com/office/drawing/2014/main" id="{16FB9760-43D0-4D91-9C46-9DCCD9F25A0A}"/>
              </a:ext>
            </a:extLst>
          </p:cNvPr>
          <p:cNvSpPr>
            <a:spLocks noGrp="1"/>
          </p:cNvSpPr>
          <p:nvPr/>
        </p:nvSpPr>
        <p:spPr>
          <a:xfrm>
            <a:off x="8225280" y="5602320"/>
            <a:ext cx="2595600" cy="39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JUL 2026</a:t>
            </a:r>
          </a:p>
        </p:txBody>
      </p:sp>
    </p:spTree>
    <p:extLst>
      <p:ext uri="{BB962C8B-B14F-4D97-AF65-F5344CB8AC3E}">
        <p14:creationId xmlns:p14="http://schemas.microsoft.com/office/powerpoint/2010/main" val="1540690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>
            <a:extLst>
              <a:ext uri="{FF2B5EF4-FFF2-40B4-BE49-F238E27FC236}">
                <a16:creationId xmlns:a16="http://schemas.microsoft.com/office/drawing/2014/main" id="{4CC6D1D7-0BC0-44EA-9794-D995B8397855}"/>
              </a:ext>
            </a:extLst>
          </p:cNvPr>
          <p:cNvSpPr>
            <a:spLocks noGrp="1"/>
          </p:cNvSpPr>
          <p:nvPr>
            <p:ph type="sldNum" idx="19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329DAA5-7806-4F0D-9DF2-FD4C07D51E82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4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0" name="PlaceHolder 2">
            <a:extLst>
              <a:ext uri="{FF2B5EF4-FFF2-40B4-BE49-F238E27FC236}">
                <a16:creationId xmlns:a16="http://schemas.microsoft.com/office/drawing/2014/main" id="{102F27E7-5269-47DB-9C79-F21A5EEC4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Helvetica Neue Medium"/>
                <a:ea typeface="Helvetica Neue Medium"/>
                <a:cs typeface="Helvetica Neue Medium"/>
              </a:rPr>
              <a:t>Controlled experimentation</a:t>
            </a:r>
          </a:p>
        </p:txBody>
      </p:sp>
      <p:sp>
        <p:nvSpPr>
          <p:cNvPr id="71" name="Rounded Rectangle 6">
            <a:extLst>
              <a:ext uri="{FF2B5EF4-FFF2-40B4-BE49-F238E27FC236}">
                <a16:creationId xmlns:a16="http://schemas.microsoft.com/office/drawing/2014/main" id="{075A9681-6F2D-42C8-8BA5-145CDFAA6894}"/>
              </a:ext>
            </a:extLst>
          </p:cNvPr>
          <p:cNvSpPr>
            <a:spLocks noGrp="1"/>
          </p:cNvSpPr>
          <p:nvPr/>
        </p:nvSpPr>
        <p:spPr>
          <a:xfrm>
            <a:off x="6264360" y="2369880"/>
            <a:ext cx="5533560" cy="16380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2" name="Content Placeholder 10">
            <a:extLst>
              <a:ext uri="{FF2B5EF4-FFF2-40B4-BE49-F238E27FC236}">
                <a16:creationId xmlns:a16="http://schemas.microsoft.com/office/drawing/2014/main" id="{8716E46B-59C6-45E2-9F24-23F6A065B573}"/>
              </a:ext>
            </a:extLst>
          </p:cNvPr>
          <p:cNvSpPr>
            <a:spLocks noGrp="1"/>
          </p:cNvSpPr>
          <p:nvPr/>
        </p:nvSpPr>
        <p:spPr>
          <a:xfrm>
            <a:off x="6561720" y="2664720"/>
            <a:ext cx="4986360" cy="10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1‑D SAC · algorithm probe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early sample efficiency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entropy + replay isolated</a:t>
            </a:r>
          </a:p>
        </p:txBody>
      </p:sp>
      <p:sp>
        <p:nvSpPr>
          <p:cNvPr id="73" name="Rounded Rectangle 8">
            <a:extLst>
              <a:ext uri="{FF2B5EF4-FFF2-40B4-BE49-F238E27FC236}">
                <a16:creationId xmlns:a16="http://schemas.microsoft.com/office/drawing/2014/main" id="{E65242F7-3B42-41DB-A38E-76D867FC466F}"/>
              </a:ext>
            </a:extLst>
          </p:cNvPr>
          <p:cNvSpPr>
            <a:spLocks noGrp="1"/>
          </p:cNvSpPr>
          <p:nvPr/>
        </p:nvSpPr>
        <p:spPr>
          <a:xfrm>
            <a:off x="408960" y="2369880"/>
            <a:ext cx="5533560" cy="16380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4" name="Content Placeholder 10">
            <a:extLst>
              <a:ext uri="{FF2B5EF4-FFF2-40B4-BE49-F238E27FC236}">
                <a16:creationId xmlns:a16="http://schemas.microsoft.com/office/drawing/2014/main" id="{81FE7A91-70DC-4D77-83F9-B49ADA82A3EF}"/>
              </a:ext>
            </a:extLst>
          </p:cNvPr>
          <p:cNvSpPr>
            <a:spLocks noGrp="1"/>
          </p:cNvSpPr>
          <p:nvPr/>
        </p:nvSpPr>
        <p:spPr>
          <a:xfrm>
            <a:off x="706320" y="2664720"/>
            <a:ext cx="4986360" cy="10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1‑D PPO · baseline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State vector → camera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peaks + multiseed</a:t>
            </a:r>
          </a:p>
        </p:txBody>
      </p:sp>
      <p:sp>
        <p:nvSpPr>
          <p:cNvPr id="75" name="Rounded Rectangle 1">
            <a:extLst>
              <a:ext uri="{FF2B5EF4-FFF2-40B4-BE49-F238E27FC236}">
                <a16:creationId xmlns:a16="http://schemas.microsoft.com/office/drawing/2014/main" id="{E2E95975-B584-4BF1-86F9-8CFE36B871FC}"/>
              </a:ext>
            </a:extLst>
          </p:cNvPr>
          <p:cNvSpPr>
            <a:spLocks noGrp="1"/>
          </p:cNvSpPr>
          <p:nvPr/>
        </p:nvSpPr>
        <p:spPr>
          <a:xfrm>
            <a:off x="6264360" y="4370040"/>
            <a:ext cx="5533560" cy="16380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6" name="Content Placeholder 10">
            <a:extLst>
              <a:ext uri="{FF2B5EF4-FFF2-40B4-BE49-F238E27FC236}">
                <a16:creationId xmlns:a16="http://schemas.microsoft.com/office/drawing/2014/main" id="{E565C35D-6E88-4134-8411-AA5DDB9B97B9}"/>
              </a:ext>
            </a:extLst>
          </p:cNvPr>
          <p:cNvSpPr>
            <a:spLocks noGrp="1"/>
          </p:cNvSpPr>
          <p:nvPr/>
        </p:nvSpPr>
        <p:spPr>
          <a:xfrm>
            <a:off x="6561720" y="4664880"/>
            <a:ext cx="4986360" cy="10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2‑D SAC · stress test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tuning + entfix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safe, but weaker driver</a:t>
            </a:r>
          </a:p>
        </p:txBody>
      </p:sp>
      <p:sp>
        <p:nvSpPr>
          <p:cNvPr id="77" name="Rounded Rectangle 3">
            <a:extLst>
              <a:ext uri="{FF2B5EF4-FFF2-40B4-BE49-F238E27FC236}">
                <a16:creationId xmlns:a16="http://schemas.microsoft.com/office/drawing/2014/main" id="{533F4653-670A-4377-A3DD-0569A1E9C8F6}"/>
              </a:ext>
            </a:extLst>
          </p:cNvPr>
          <p:cNvSpPr>
            <a:spLocks noGrp="1"/>
          </p:cNvSpPr>
          <p:nvPr/>
        </p:nvSpPr>
        <p:spPr>
          <a:xfrm>
            <a:off x="408960" y="4370040"/>
            <a:ext cx="5533560" cy="16380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78" name="Content Placeholder 10">
            <a:extLst>
              <a:ext uri="{FF2B5EF4-FFF2-40B4-BE49-F238E27FC236}">
                <a16:creationId xmlns:a16="http://schemas.microsoft.com/office/drawing/2014/main" id="{22EA9D34-35AD-492A-9AF4-91ADB6B570FF}"/>
              </a:ext>
            </a:extLst>
          </p:cNvPr>
          <p:cNvSpPr>
            <a:spLocks noGrp="1"/>
          </p:cNvSpPr>
          <p:nvPr/>
        </p:nvSpPr>
        <p:spPr>
          <a:xfrm>
            <a:off x="706320" y="4664880"/>
            <a:ext cx="4986360" cy="10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85000" lnSpcReduction="1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2‑D PPO · action authority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throttle + random starts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0.22 cap → stable plateau</a:t>
            </a:r>
          </a:p>
        </p:txBody>
      </p:sp>
      <p:sp>
        <p:nvSpPr>
          <p:cNvPr id="79" name="Content Placeholder 15">
            <a:extLst>
              <a:ext uri="{FF2B5EF4-FFF2-40B4-BE49-F238E27FC236}">
                <a16:creationId xmlns:a16="http://schemas.microsoft.com/office/drawing/2014/main" id="{0255379A-72ED-42C2-B76B-F7476633A164}"/>
              </a:ext>
            </a:extLst>
          </p:cNvPr>
          <p:cNvSpPr>
            <a:spLocks noGrp="1"/>
          </p:cNvSpPr>
          <p:nvPr/>
        </p:nvSpPr>
        <p:spPr>
          <a:xfrm>
            <a:off x="401040" y="1057680"/>
            <a:ext cx="11404080" cy="101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camera, environment, reward, cage, seed, and evaluation spine stayed fixed. </a:t>
            </a:r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branch changed one main axis.</a:t>
            </a:r>
          </a:p>
        </p:txBody>
      </p:sp>
    </p:spTree>
    <p:extLst>
      <p:ext uri="{BB962C8B-B14F-4D97-AF65-F5344CB8AC3E}">
        <p14:creationId xmlns:p14="http://schemas.microsoft.com/office/powerpoint/2010/main" val="47971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>
            <a:extLst>
              <a:ext uri="{FF2B5EF4-FFF2-40B4-BE49-F238E27FC236}">
                <a16:creationId xmlns:a16="http://schemas.microsoft.com/office/drawing/2014/main" id="{43D87876-7242-4E56-A925-5294B7F9ABBA}"/>
              </a:ext>
            </a:extLst>
          </p:cNvPr>
          <p:cNvSpPr>
            <a:spLocks noGrp="1"/>
          </p:cNvSpPr>
          <p:nvPr>
            <p:ph type="sldNum" idx="20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68AB953-632A-45DF-A4DE-2E8AB7AB7C4A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5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1" name="PlaceHolder 2">
            <a:extLst>
              <a:ext uri="{FF2B5EF4-FFF2-40B4-BE49-F238E27FC236}">
                <a16:creationId xmlns:a16="http://schemas.microsoft.com/office/drawing/2014/main" id="{190F32F7-8F92-42E5-ABE8-EA045C3D7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GT 1‑D PPO</a:t>
            </a:r>
          </a:p>
        </p:txBody>
      </p:sp>
      <p:sp>
        <p:nvSpPr>
          <p:cNvPr id="82" name="Google Shape;534;p58">
            <a:extLst>
              <a:ext uri="{FF2B5EF4-FFF2-40B4-BE49-F238E27FC236}">
                <a16:creationId xmlns:a16="http://schemas.microsoft.com/office/drawing/2014/main" id="{4DEC0868-4283-43E3-AA7E-230D71386557}"/>
              </a:ext>
            </a:extLst>
          </p:cNvPr>
          <p:cNvSpPr>
            <a:spLocks noGrp="1"/>
          </p:cNvSpPr>
          <p:nvPr/>
        </p:nvSpPr>
        <p:spPr>
          <a:xfrm>
            <a:off x="393840" y="2031840"/>
            <a:ext cx="5536800" cy="39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PPO achieved perfect driving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br/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Cage activity fell from ≈90% early to ≈4%, safety rules disappeared and C‑06 remained.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br/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Nominal eval: 11.2 laps, 9.9 mm mean |ey|, 0 emergencies.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br/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Conclusion: the method worked when perception was perfect.</a:t>
            </a:r>
          </a:p>
        </p:txBody>
      </p:sp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86AD161E-0214-4CB6-A72C-87EDBCE26527}"/>
              </a:ext>
            </a:extLst>
          </p:cNvPr>
          <p:cNvSpPr>
            <a:spLocks noGrp="1"/>
          </p:cNvSpPr>
          <p:nvPr/>
        </p:nvSpPr>
        <p:spPr>
          <a:xfrm>
            <a:off x="6269040" y="396360"/>
            <a:ext cx="5539320" cy="560160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483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>
            <a:extLst>
              <a:ext uri="{FF2B5EF4-FFF2-40B4-BE49-F238E27FC236}">
                <a16:creationId xmlns:a16="http://schemas.microsoft.com/office/drawing/2014/main" id="{F3DD880D-7C86-4334-9798-76AC77A0A7D0}"/>
              </a:ext>
            </a:extLst>
          </p:cNvPr>
          <p:cNvSpPr>
            <a:spLocks noGrp="1"/>
          </p:cNvSpPr>
          <p:nvPr>
            <p:ph type="sldNum" idx="21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73C071A-2640-4768-B27A-47C183E7645E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6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5" name="PlaceHolder 2">
            <a:extLst>
              <a:ext uri="{FF2B5EF4-FFF2-40B4-BE49-F238E27FC236}">
                <a16:creationId xmlns:a16="http://schemas.microsoft.com/office/drawing/2014/main" id="{70CF5634-9FF8-44DB-830D-194789F73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E2E 1-D PPO</a:t>
            </a:r>
          </a:p>
        </p:txBody>
      </p:sp>
      <p:sp>
        <p:nvSpPr>
          <p:cNvPr id="86" name="Google Shape;534;p58">
            <a:extLst>
              <a:ext uri="{FF2B5EF4-FFF2-40B4-BE49-F238E27FC236}">
                <a16:creationId xmlns:a16="http://schemas.microsoft.com/office/drawing/2014/main" id="{9A6BCA09-6F97-4D72-9517-05519A51926C}"/>
              </a:ext>
            </a:extLst>
          </p:cNvPr>
          <p:cNvSpPr>
            <a:spLocks noGrp="1"/>
          </p:cNvSpPr>
          <p:nvPr/>
        </p:nvSpPr>
        <p:spPr>
          <a:xfrm>
            <a:off x="393840" y="2031840"/>
            <a:ext cx="5536800" cy="39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Every seed peaked, then decayed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br/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Peak checkpointing was essential, the final step was never trusted.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br/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Evaluation found 3/5 constraint-respecting; seed 666 cage-dependent, seed 23 cage–CV conflict.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br/>
            <a:endParaRPr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CC9CF75-49B1-48D0-8FF0-FE3078709E35}"/>
              </a:ext>
            </a:extLst>
          </p:cNvPr>
          <p:cNvSpPr>
            <a:spLocks noGrp="1"/>
          </p:cNvSpPr>
          <p:nvPr/>
        </p:nvSpPr>
        <p:spPr>
          <a:xfrm>
            <a:off x="6269040" y="396360"/>
            <a:ext cx="5539320" cy="560160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0242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>
            <a:extLst>
              <a:ext uri="{FF2B5EF4-FFF2-40B4-BE49-F238E27FC236}">
                <a16:creationId xmlns:a16="http://schemas.microsoft.com/office/drawing/2014/main" id="{AC222DEE-7DC2-4253-AE7E-96A5DFFAAAB3}"/>
              </a:ext>
            </a:extLst>
          </p:cNvPr>
          <p:cNvSpPr>
            <a:spLocks noGrp="1"/>
          </p:cNvSpPr>
          <p:nvPr>
            <p:ph type="sldNum" idx="22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BBC8C15-5487-43BE-AD23-EBAC0DA49B13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7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9" name="PlaceHolder 2">
            <a:extLst>
              <a:ext uri="{FF2B5EF4-FFF2-40B4-BE49-F238E27FC236}">
                <a16:creationId xmlns:a16="http://schemas.microsoft.com/office/drawing/2014/main" id="{69B55A36-2D3A-44BE-8234-80FD0C819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E2E 1‑D SAC test comparison</a:t>
            </a:r>
          </a:p>
        </p:txBody>
      </p:sp>
      <p:sp>
        <p:nvSpPr>
          <p:cNvPr id="90" name="Google Shape;534;p58">
            <a:extLst>
              <a:ext uri="{FF2B5EF4-FFF2-40B4-BE49-F238E27FC236}">
                <a16:creationId xmlns:a16="http://schemas.microsoft.com/office/drawing/2014/main" id="{95EAF7BF-5E6F-412A-A37D-5C6B8AF37321}"/>
              </a:ext>
            </a:extLst>
          </p:cNvPr>
          <p:cNvSpPr>
            <a:spLocks noGrp="1"/>
          </p:cNvSpPr>
          <p:nvPr/>
        </p:nvSpPr>
        <p:spPr>
          <a:xfrm>
            <a:off x="393840" y="2031840"/>
            <a:ext cx="5536800" cy="39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SAC reaches its peak earlier than PPO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endParaRPr sz="18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PPO still achieves better driving over time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endParaRPr sz="18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The trade-off is time versus final performance</a:t>
            </a: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47580EBE-A51D-44DB-97F6-F67190EAAE16}"/>
              </a:ext>
            </a:extLst>
          </p:cNvPr>
          <p:cNvSpPr>
            <a:spLocks noGrp="1"/>
          </p:cNvSpPr>
          <p:nvPr/>
        </p:nvSpPr>
        <p:spPr>
          <a:xfrm>
            <a:off x="6269040" y="396360"/>
            <a:ext cx="5539320" cy="560160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8792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>
            <a:extLst>
              <a:ext uri="{FF2B5EF4-FFF2-40B4-BE49-F238E27FC236}">
                <a16:creationId xmlns:a16="http://schemas.microsoft.com/office/drawing/2014/main" id="{CC287E36-8A83-4292-8F77-7DACC0CC9D09}"/>
              </a:ext>
            </a:extLst>
          </p:cNvPr>
          <p:cNvSpPr>
            <a:spLocks noGrp="1"/>
          </p:cNvSpPr>
          <p:nvPr>
            <p:ph type="sldNum" idx="23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32B8AA-9B15-43CB-8231-41FE362BD239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8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3" name="PlaceHolder 2">
            <a:extLst>
              <a:ext uri="{FF2B5EF4-FFF2-40B4-BE49-F238E27FC236}">
                <a16:creationId xmlns:a16="http://schemas.microsoft.com/office/drawing/2014/main" id="{BC9C0227-F443-42DB-AFD5-515E2E5B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E2E 2-D PPO vs SAC</a:t>
            </a:r>
          </a:p>
        </p:txBody>
      </p:sp>
      <p:sp>
        <p:nvSpPr>
          <p:cNvPr id="94" name="Google Shape;534;p58">
            <a:extLst>
              <a:ext uri="{FF2B5EF4-FFF2-40B4-BE49-F238E27FC236}">
                <a16:creationId xmlns:a16="http://schemas.microsoft.com/office/drawing/2014/main" id="{6F9393B8-B892-46CD-80D1-3D89473C8566}"/>
              </a:ext>
            </a:extLst>
          </p:cNvPr>
          <p:cNvSpPr>
            <a:spLocks noGrp="1"/>
          </p:cNvSpPr>
          <p:nvPr/>
        </p:nvSpPr>
        <p:spPr>
          <a:xfrm>
            <a:off x="393840" y="2031840"/>
            <a:ext cx="5536800" cy="39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Action-space study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Throttle authority made speed selection and the stall test explicit.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endParaRPr sz="18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t>PPO 0.22 reached a stable 1,755 plateau; 550k drove 5.32 laps at 8.6 mm with 0 emergencies and no C-01/02/03/05 activations.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t>Conclusion: PPO won; closed-loop checkpoint selection beat reward alone.</a:t>
            </a: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37BC0FB8-88E1-4E75-99B3-4DE5A28A84A8}"/>
              </a:ext>
            </a:extLst>
          </p:cNvPr>
          <p:cNvSpPr>
            <a:spLocks noGrp="1"/>
          </p:cNvSpPr>
          <p:nvPr/>
        </p:nvSpPr>
        <p:spPr>
          <a:xfrm>
            <a:off x="6269040" y="396360"/>
            <a:ext cx="5539320" cy="5601600"/>
          </a:xfrm>
          <a:prstGeom prst="roundRect">
            <a:avLst>
              <a:gd name="adj" fmla="val 16667"/>
            </a:avLst>
          </a:pr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17274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>
            <a:extLst>
              <a:ext uri="{FF2B5EF4-FFF2-40B4-BE49-F238E27FC236}">
                <a16:creationId xmlns:a16="http://schemas.microsoft.com/office/drawing/2014/main" id="{CC287E36-8A83-4292-8F77-7DACC0CC9D09}"/>
              </a:ext>
            </a:extLst>
          </p:cNvPr>
          <p:cNvSpPr>
            <a:spLocks noGrp="1"/>
          </p:cNvSpPr>
          <p:nvPr>
            <p:ph type="sldNum" idx="23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632B8AA-9B15-43CB-8231-41FE362BD239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9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3" name="PlaceHolder 2">
            <a:extLst>
              <a:ext uri="{FF2B5EF4-FFF2-40B4-BE49-F238E27FC236}">
                <a16:creationId xmlns:a16="http://schemas.microsoft.com/office/drawing/2014/main" id="{BC9C0227-F443-42DB-AFD5-515E2E5B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9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Final 2-D campaign preserved safety</a:t>
            </a:r>
          </a:p>
        </p:txBody>
      </p:sp>
      <p:sp>
        <p:nvSpPr>
          <p:cNvPr id="94" name="Google Shape;534;p58">
            <a:extLst>
              <a:ext uri="{FF2B5EF4-FFF2-40B4-BE49-F238E27FC236}">
                <a16:creationId xmlns:a16="http://schemas.microsoft.com/office/drawing/2014/main" id="{6F9393B8-B892-46CD-80D1-3D89473C8566}"/>
              </a:ext>
            </a:extLst>
          </p:cNvPr>
          <p:cNvSpPr>
            <a:spLocks noGrp="1"/>
          </p:cNvSpPr>
          <p:nvPr/>
        </p:nvSpPr>
        <p:spPr>
          <a:xfrm>
            <a:off x="393840" y="2031840"/>
            <a:ext cx="5536800" cy="396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Verdict campaign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sz="1800" b="0" u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1,890 runs · 0 errors across 27 scenarios.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endParaRPr sz="1800" b="0" u="none" dirty="0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r>
              <a:rPr dirty="0"/>
              <a:t>Cage on: 0 in-ODD road-edge contacts; cage off: 60. All 12 perturbation scenarios passed under enforcement.</a:t>
            </a:r>
          </a:p>
          <a:p>
            <a:pPr defTabSz="914400">
              <a:lnSpc>
                <a:spcPct val="114000"/>
              </a:lnSpc>
              <a:spcAft>
                <a:spcPts val="799"/>
              </a:spcAft>
              <a:buNone/>
              <a:tabLst>
                <a:tab pos="0" algn="l"/>
              </a:tabLst>
            </a:pPr>
            <a:endParaRPr dirty="0"/>
          </a:p>
        </p:txBody>
      </p:sp>
      <p:graphicFrame>
        <p:nvGraphicFramePr>
          <p:cNvPr id="99" name="Chart"/>
          <p:cNvGraphicFramePr/>
          <p:nvPr>
            <p:extLst>
              <p:ext uri="{D42A27DB-BD31-4B8C-83A1-F6EECF244321}">
                <p14:modId xmlns:p14="http://schemas.microsoft.com/office/powerpoint/2010/main" val="3668970757"/>
              </p:ext>
            </p:extLst>
          </p:nvPr>
        </p:nvGraphicFramePr>
        <p:xfrm>
          <a:off x="6095880" y="797940"/>
          <a:ext cx="5539320" cy="560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1727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>
            <a:extLst>
              <a:ext uri="{FF2B5EF4-FFF2-40B4-BE49-F238E27FC236}">
                <a16:creationId xmlns:a16="http://schemas.microsoft.com/office/drawing/2014/main" id="{8C3549DD-00E6-46D7-A589-97574882224E}"/>
              </a:ext>
            </a:extLst>
          </p:cNvPr>
          <p:cNvSpPr>
            <a:spLocks noGrp="1"/>
          </p:cNvSpPr>
          <p:nvPr>
            <p:ph type="sldNum" idx="24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E15E518-D003-4F7F-8685-12AAC27395B8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10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7" name="PlaceHolder 2">
            <a:extLst>
              <a:ext uri="{FF2B5EF4-FFF2-40B4-BE49-F238E27FC236}">
                <a16:creationId xmlns:a16="http://schemas.microsoft.com/office/drawing/2014/main" id="{D889C6AE-E7C1-4F39-B15B-08178F0B0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520"/>
            <a:ext cx="11404080" cy="644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90000"/>
              </a:lnSpc>
              <a:buNone/>
            </a:pPr>
            <a:r>
              <a:rPr sz="29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With camera input, the cage became decisive</a:t>
            </a:r>
          </a:p>
        </p:txBody>
      </p:sp>
      <p:sp>
        <p:nvSpPr>
          <p:cNvPr id="98" name="Rounded Rectangle 1">
            <a:extLst>
              <a:ext uri="{FF2B5EF4-FFF2-40B4-BE49-F238E27FC236}">
                <a16:creationId xmlns:a16="http://schemas.microsoft.com/office/drawing/2014/main" id="{143800C1-E474-4D30-A23A-2944BDB4216F}"/>
              </a:ext>
            </a:extLst>
          </p:cNvPr>
          <p:cNvSpPr>
            <a:spLocks noGrp="1"/>
          </p:cNvSpPr>
          <p:nvPr/>
        </p:nvSpPr>
        <p:spPr>
          <a:xfrm>
            <a:off x="397080" y="3339000"/>
            <a:ext cx="5533560" cy="132048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99" name="Content Placeholder 10">
            <a:extLst>
              <a:ext uri="{FF2B5EF4-FFF2-40B4-BE49-F238E27FC236}">
                <a16:creationId xmlns:a16="http://schemas.microsoft.com/office/drawing/2014/main" id="{BC6F908A-598D-4EAB-876C-3ABEF4C09D15}"/>
              </a:ext>
            </a:extLst>
          </p:cNvPr>
          <p:cNvSpPr>
            <a:spLocks noGrp="1"/>
          </p:cNvSpPr>
          <p:nvPr/>
        </p:nvSpPr>
        <p:spPr>
          <a:xfrm>
            <a:off x="694080" y="3587760"/>
            <a:ext cx="4986360" cy="87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Cage enforcement</a:t>
            </a:r>
          </a:p>
          <a:p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in-ODD contacts</a:t>
            </a:r>
          </a:p>
          <a:p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25/25 endurance PASS</a:t>
            </a:r>
          </a:p>
          <a:p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406 controlled stops overall</a:t>
            </a:r>
          </a:p>
        </p:txBody>
      </p:sp>
      <p:sp>
        <p:nvSpPr>
          <p:cNvPr id="100" name="Content Placeholder 15">
            <a:extLst>
              <a:ext uri="{FF2B5EF4-FFF2-40B4-BE49-F238E27FC236}">
                <a16:creationId xmlns:a16="http://schemas.microsoft.com/office/drawing/2014/main" id="{22ECCBE6-A393-4264-8607-6826602F2DCD}"/>
              </a:ext>
            </a:extLst>
          </p:cNvPr>
          <p:cNvSpPr>
            <a:spLocks noGrp="1"/>
          </p:cNvSpPr>
          <p:nvPr/>
        </p:nvSpPr>
        <p:spPr>
          <a:xfrm>
            <a:off x="694080" y="4828680"/>
            <a:ext cx="5236200" cy="97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All 12 perturbations pass</a:t>
            </a:r>
          </a:p>
          <a:p>
            <a:pPr defTabSz="914400">
              <a:lnSpc>
                <a:spcPct val="114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Safety rules latent in short nominal runs</a:t>
            </a:r>
          </a:p>
          <a:p>
            <a:pPr defTabSz="914400">
              <a:lnSpc>
                <a:spcPct val="114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C-06 remains active</a:t>
            </a:r>
          </a:p>
        </p:txBody>
      </p:sp>
      <p:sp>
        <p:nvSpPr>
          <p:cNvPr id="101" name="Rounded Rectangle 7">
            <a:extLst>
              <a:ext uri="{FF2B5EF4-FFF2-40B4-BE49-F238E27FC236}">
                <a16:creationId xmlns:a16="http://schemas.microsoft.com/office/drawing/2014/main" id="{6B349168-4E4A-442F-92B5-6EF5BB2FC46C}"/>
              </a:ext>
            </a:extLst>
          </p:cNvPr>
          <p:cNvSpPr>
            <a:spLocks noGrp="1"/>
          </p:cNvSpPr>
          <p:nvPr/>
        </p:nvSpPr>
        <p:spPr>
          <a:xfrm>
            <a:off x="6260760" y="3339000"/>
            <a:ext cx="5533560" cy="132048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2" name="Content Placeholder 10">
            <a:extLst>
              <a:ext uri="{FF2B5EF4-FFF2-40B4-BE49-F238E27FC236}">
                <a16:creationId xmlns:a16="http://schemas.microsoft.com/office/drawing/2014/main" id="{34CBA30E-E668-42F5-8EFD-70D59AE067C9}"/>
              </a:ext>
            </a:extLst>
          </p:cNvPr>
          <p:cNvSpPr>
            <a:spLocks noGrp="1"/>
          </p:cNvSpPr>
          <p:nvPr/>
        </p:nvSpPr>
        <p:spPr>
          <a:xfrm>
            <a:off x="6558120" y="3587760"/>
            <a:ext cx="4986360" cy="87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Monitoring</a:t>
            </a:r>
          </a:p>
          <a:p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60 in-ODD contacts</a:t>
            </a:r>
          </a:p>
          <a:p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8/25 endurance PASS</a:t>
            </a:r>
          </a:p>
          <a:p>
            <a:pPr defTabSz="914400">
              <a:lnSpc>
                <a:spcPct val="11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17 runs left the road</a:t>
            </a:r>
          </a:p>
        </p:txBody>
      </p:sp>
      <p:sp>
        <p:nvSpPr>
          <p:cNvPr id="103" name="Content Placeholder 15">
            <a:extLst>
              <a:ext uri="{FF2B5EF4-FFF2-40B4-BE49-F238E27FC236}">
                <a16:creationId xmlns:a16="http://schemas.microsoft.com/office/drawing/2014/main" id="{608F0754-A15C-41B5-B04C-AD0B98068F0E}"/>
              </a:ext>
            </a:extLst>
          </p:cNvPr>
          <p:cNvSpPr>
            <a:spLocks noGrp="1"/>
          </p:cNvSpPr>
          <p:nvPr/>
        </p:nvSpPr>
        <p:spPr>
          <a:xfrm>
            <a:off x="6558120" y="4828680"/>
            <a:ext cx="5236200" cy="97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Same policy</a:t>
            </a:r>
          </a:p>
          <a:p>
            <a:pPr defTabSz="914400">
              <a:lnSpc>
                <a:spcPct val="114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Same scenarios</a:t>
            </a:r>
          </a:p>
          <a:p>
            <a:pPr defTabSz="914400">
              <a:lnSpc>
                <a:spcPct val="114000"/>
              </a:lnSpc>
              <a:spcBef>
                <a:spcPts val="1001"/>
              </a:spcBef>
              <a:spcAft>
                <a:spcPts val="799"/>
              </a:spcAft>
              <a:buNone/>
              <a:tabLst>
                <a:tab pos="0" algn="l"/>
              </a:tabLst>
            </a:pPr>
            <a:r>
              <a:rPr sz="14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Causal contrast</a:t>
            </a:r>
          </a:p>
        </p:txBody>
      </p:sp>
      <p:sp>
        <p:nvSpPr>
          <p:cNvPr id="104" name="Content Placeholder 15">
            <a:extLst>
              <a:ext uri="{FF2B5EF4-FFF2-40B4-BE49-F238E27FC236}">
                <a16:creationId xmlns:a16="http://schemas.microsoft.com/office/drawing/2014/main" id="{F9326B79-0DA8-4BC5-8543-168CAC007A62}"/>
              </a:ext>
            </a:extLst>
          </p:cNvPr>
          <p:cNvSpPr>
            <a:spLocks noGrp="1"/>
          </p:cNvSpPr>
          <p:nvPr/>
        </p:nvSpPr>
        <p:spPr>
          <a:xfrm>
            <a:off x="401040" y="1157400"/>
            <a:ext cx="11404080" cy="16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sz="1800" b="0" u="none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</a:rPr>
              <a:t>Safety rules C-01/02/03/05 stayed latent in short nominal runs.</a:t>
            </a:r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 sz="1800" b="0" u="none">
              <a:solidFill>
                <a:srgbClr val="000000"/>
              </a:solidFill>
              <a:latin typeface="Helvetica Neue Medium"/>
              <a:ea typeface="Helvetica Neue Medium"/>
              <a:cs typeface="Helvetica Neue Medium"/>
            </a:endParaRPr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t>Over 300 s, however, 25/25 runs finish with enforcement, while 17/25 cage-off runs leave the lane.</a:t>
            </a:r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endParaRPr/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t>Across the full campaign, the cage removes all 60 in-ODD road-edge contacts.</a:t>
            </a:r>
          </a:p>
        </p:txBody>
      </p:sp>
    </p:spTree>
    <p:extLst>
      <p:ext uri="{BB962C8B-B14F-4D97-AF65-F5344CB8AC3E}">
        <p14:creationId xmlns:p14="http://schemas.microsoft.com/office/powerpoint/2010/main" val="1149158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>
            <a:extLst>
              <a:ext uri="{FF2B5EF4-FFF2-40B4-BE49-F238E27FC236}">
                <a16:creationId xmlns:a16="http://schemas.microsoft.com/office/drawing/2014/main" id="{47605CC1-5E72-4B90-9010-58B3268CBCDE}"/>
              </a:ext>
            </a:extLst>
          </p:cNvPr>
          <p:cNvSpPr>
            <a:spLocks noGrp="1"/>
          </p:cNvSpPr>
          <p:nvPr>
            <p:ph type="sldNum" idx="25"/>
          </p:nvPr>
        </p:nvSpPr>
        <p:spPr>
          <a:xfrm>
            <a:off x="11279160" y="6279120"/>
            <a:ext cx="518760" cy="24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C6D2516-D932-4D02-B113-34E02F3B97FE}" type="slidenum">
              <a:rPr sz="1000" b="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</a:rPr>
              <a:t>11</a:t>
            </a:fld>
            <a:endParaRPr sz="1000" b="0" u="none">
              <a:solidFill>
                <a:schemeClr val="dk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6" name="PlaceHolder 2">
            <a:extLst>
              <a:ext uri="{FF2B5EF4-FFF2-40B4-BE49-F238E27FC236}">
                <a16:creationId xmlns:a16="http://schemas.microsoft.com/office/drawing/2014/main" id="{69E812DD-7369-4C8E-853B-E796B174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40" y="344160"/>
            <a:ext cx="11404080" cy="1047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sz="2800" b="0" u="none">
                <a:solidFill>
                  <a:schemeClr val="dk1"/>
                </a:solidFill>
                <a:latin typeface="Helvetica Neue Medium"/>
                <a:ea typeface="Helvetica Neue Medium"/>
                <a:cs typeface="Helvetica Neue Medium"/>
              </a:rPr>
              <a:t>Status as of 31 July 2026</a:t>
            </a:r>
          </a:p>
        </p:txBody>
      </p:sp>
      <p:sp>
        <p:nvSpPr>
          <p:cNvPr id="107" name="Rounded Rectangle 6">
            <a:extLst>
              <a:ext uri="{FF2B5EF4-FFF2-40B4-BE49-F238E27FC236}">
                <a16:creationId xmlns:a16="http://schemas.microsoft.com/office/drawing/2014/main" id="{723E36A2-87C8-4B8C-9B4F-1CBD5BED499F}"/>
              </a:ext>
            </a:extLst>
          </p:cNvPr>
          <p:cNvSpPr>
            <a:spLocks noGrp="1"/>
          </p:cNvSpPr>
          <p:nvPr/>
        </p:nvSpPr>
        <p:spPr>
          <a:xfrm>
            <a:off x="6264360" y="2369880"/>
            <a:ext cx="5533560" cy="16380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08" name="Content Placeholder 10">
            <a:extLst>
              <a:ext uri="{FF2B5EF4-FFF2-40B4-BE49-F238E27FC236}">
                <a16:creationId xmlns:a16="http://schemas.microsoft.com/office/drawing/2014/main" id="{018A1AF1-022B-4C85-B013-2F635BFF8614}"/>
              </a:ext>
            </a:extLst>
          </p:cNvPr>
          <p:cNvSpPr>
            <a:spLocks noGrp="1"/>
          </p:cNvSpPr>
          <p:nvPr/>
        </p:nvSpPr>
        <p:spPr>
          <a:xfrm>
            <a:off x="6561720" y="2664720"/>
            <a:ext cx="4986360" cy="10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0497" lnSpcReduction="1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Safety invariant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 vs 60 in-ODD contacts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all 12 perturbations pass</a:t>
            </a:r>
          </a:p>
        </p:txBody>
      </p:sp>
      <p:sp>
        <p:nvSpPr>
          <p:cNvPr id="109" name="Rounded Rectangle 8">
            <a:extLst>
              <a:ext uri="{FF2B5EF4-FFF2-40B4-BE49-F238E27FC236}">
                <a16:creationId xmlns:a16="http://schemas.microsoft.com/office/drawing/2014/main" id="{2BDB3446-9490-4C23-ACF8-B50A8726254C}"/>
              </a:ext>
            </a:extLst>
          </p:cNvPr>
          <p:cNvSpPr>
            <a:spLocks noGrp="1"/>
          </p:cNvSpPr>
          <p:nvPr/>
        </p:nvSpPr>
        <p:spPr>
          <a:xfrm>
            <a:off x="408960" y="2369880"/>
            <a:ext cx="5533560" cy="16380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0" name="Content Placeholder 10">
            <a:extLst>
              <a:ext uri="{FF2B5EF4-FFF2-40B4-BE49-F238E27FC236}">
                <a16:creationId xmlns:a16="http://schemas.microsoft.com/office/drawing/2014/main" id="{EFAA7182-97C5-4FB1-B8EC-A85180AEBF9C}"/>
              </a:ext>
            </a:extLst>
          </p:cNvPr>
          <p:cNvSpPr>
            <a:spLocks noGrp="1"/>
          </p:cNvSpPr>
          <p:nvPr/>
        </p:nvSpPr>
        <p:spPr>
          <a:xfrm>
            <a:off x="706320" y="2664720"/>
            <a:ext cx="4986360" cy="10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0497" lnSpcReduction="1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Campaign closed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1,890 runs · 0 errors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verdict of record</a:t>
            </a:r>
          </a:p>
        </p:txBody>
      </p:sp>
      <p:sp>
        <p:nvSpPr>
          <p:cNvPr id="111" name="Rounded Rectangle 1">
            <a:extLst>
              <a:ext uri="{FF2B5EF4-FFF2-40B4-BE49-F238E27FC236}">
                <a16:creationId xmlns:a16="http://schemas.microsoft.com/office/drawing/2014/main" id="{FBC78AEA-2DA5-46DF-BE29-960497171705}"/>
              </a:ext>
            </a:extLst>
          </p:cNvPr>
          <p:cNvSpPr>
            <a:spLocks noGrp="1"/>
          </p:cNvSpPr>
          <p:nvPr/>
        </p:nvSpPr>
        <p:spPr>
          <a:xfrm>
            <a:off x="6264360" y="4370040"/>
            <a:ext cx="5533560" cy="16380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2" name="Content Placeholder 10">
            <a:extLst>
              <a:ext uri="{FF2B5EF4-FFF2-40B4-BE49-F238E27FC236}">
                <a16:creationId xmlns:a16="http://schemas.microsoft.com/office/drawing/2014/main" id="{6A38B826-F238-448E-819C-7C87EA5CAA04}"/>
              </a:ext>
            </a:extLst>
          </p:cNvPr>
          <p:cNvSpPr>
            <a:spLocks noGrp="1"/>
          </p:cNvSpPr>
          <p:nvPr/>
        </p:nvSpPr>
        <p:spPr>
          <a:xfrm>
            <a:off x="6561720" y="4664880"/>
            <a:ext cx="4986360" cy="10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0497" lnSpcReduction="1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remains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SR-010 co-activation · 16/85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Phase 5 physical verdict still TBD</a:t>
            </a:r>
          </a:p>
        </p:txBody>
      </p:sp>
      <p:sp>
        <p:nvSpPr>
          <p:cNvPr id="113" name="Rounded Rectangle 3">
            <a:extLst>
              <a:ext uri="{FF2B5EF4-FFF2-40B4-BE49-F238E27FC236}">
                <a16:creationId xmlns:a16="http://schemas.microsoft.com/office/drawing/2014/main" id="{C570C648-0795-426D-A53F-99CC4EEF3BAE}"/>
              </a:ext>
            </a:extLst>
          </p:cNvPr>
          <p:cNvSpPr>
            <a:spLocks noGrp="1"/>
          </p:cNvSpPr>
          <p:nvPr/>
        </p:nvSpPr>
        <p:spPr>
          <a:xfrm>
            <a:off x="408960" y="4370040"/>
            <a:ext cx="5533560" cy="16380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endParaRPr/>
          </a:p>
        </p:txBody>
      </p:sp>
      <p:sp>
        <p:nvSpPr>
          <p:cNvPr id="114" name="Content Placeholder 10">
            <a:extLst>
              <a:ext uri="{FF2B5EF4-FFF2-40B4-BE49-F238E27FC236}">
                <a16:creationId xmlns:a16="http://schemas.microsoft.com/office/drawing/2014/main" id="{4071B46A-4678-4BEE-AB34-D8D401BEDE85}"/>
              </a:ext>
            </a:extLst>
          </p:cNvPr>
          <p:cNvSpPr>
            <a:spLocks noGrp="1"/>
          </p:cNvSpPr>
          <p:nvPr/>
        </p:nvSpPr>
        <p:spPr>
          <a:xfrm>
            <a:off x="706320" y="4664880"/>
            <a:ext cx="4986360" cy="1047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0497" lnSpcReduction="19999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Literal NOT SATISFIED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SR-002/003 · recovery clause only</a:t>
            </a:r>
          </a:p>
          <a:p>
            <a:pPr defTabSz="914400">
              <a:lnSpc>
                <a:spcPct val="100000"/>
              </a:lnSpc>
              <a:spcBef>
                <a:spcPts val="1301"/>
              </a:spcBef>
              <a:spcAft>
                <a:spcPts val="1301"/>
              </a:spcAft>
              <a:buNone/>
              <a:tabLst>
                <a:tab pos="0" algn="l"/>
              </a:tabLst>
            </a:pPr>
            <a:r>
              <a:rPr sz="1600" b="0" u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SR-CL-A safety breach</a:t>
            </a:r>
          </a:p>
        </p:txBody>
      </p:sp>
      <p:sp>
        <p:nvSpPr>
          <p:cNvPr id="115" name="Content Placeholder 15">
            <a:extLst>
              <a:ext uri="{FF2B5EF4-FFF2-40B4-BE49-F238E27FC236}">
                <a16:creationId xmlns:a16="http://schemas.microsoft.com/office/drawing/2014/main" id="{0DC9C100-7BD3-4860-A92D-DB326CBC4E08}"/>
              </a:ext>
            </a:extLst>
          </p:cNvPr>
          <p:cNvSpPr>
            <a:spLocks noGrp="1"/>
          </p:cNvSpPr>
          <p:nvPr/>
        </p:nvSpPr>
        <p:spPr>
          <a:xfrm>
            <a:off x="401040" y="1057680"/>
            <a:ext cx="11404080" cy="1011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dirty="0"/>
              <a:t>The simulation </a:t>
            </a:r>
            <a:r>
              <a:rPr dirty="0" err="1"/>
              <a:t>programme</a:t>
            </a:r>
            <a:r>
              <a:rPr dirty="0"/>
              <a:t> is complete. The 2-D PPO 550k campaign is the verdict of record</a:t>
            </a:r>
            <a:endParaRPr lang="en-US" dirty="0"/>
          </a:p>
          <a:p>
            <a:pPr defTabSz="914400">
              <a:lnSpc>
                <a:spcPct val="114000"/>
              </a:lnSpc>
              <a:spcAft>
                <a:spcPts val="601"/>
              </a:spcAft>
              <a:buNone/>
              <a:tabLst>
                <a:tab pos="0" algn="l"/>
              </a:tabLst>
            </a:pPr>
            <a:r>
              <a:rPr lang="en-US" dirty="0"/>
              <a:t>P</a:t>
            </a:r>
            <a:r>
              <a:rPr dirty="0"/>
              <a:t>hysical validation is now the next evidence step.</a:t>
            </a:r>
          </a:p>
        </p:txBody>
      </p:sp>
    </p:spTree>
    <p:extLst>
      <p:ext uri="{BB962C8B-B14F-4D97-AF65-F5344CB8AC3E}">
        <p14:creationId xmlns:p14="http://schemas.microsoft.com/office/powerpoint/2010/main" val="178675187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2314</Words>
  <Application>Microsoft Office PowerPoint</Application>
  <DocSecurity>0</DocSecurity>
  <PresentationFormat>Widescreen</PresentationFormat>
  <Paragraphs>204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Helvetica Neue Medium</vt:lpstr>
      <vt:lpstr>Arial</vt:lpstr>
      <vt:lpstr>Times New Roman</vt:lpstr>
      <vt:lpstr>Wingdings</vt:lpstr>
      <vt:lpstr>Helvetica Neue</vt:lpstr>
      <vt:lpstr>Symbol</vt:lpstr>
      <vt:lpstr>Default Codex Theme</vt:lpstr>
      <vt:lpstr>Policy under safety-cage </vt:lpstr>
      <vt:lpstr>End-to-end traceability</vt:lpstr>
      <vt:lpstr>RL policy state</vt:lpstr>
      <vt:lpstr>Controlled experimentation</vt:lpstr>
      <vt:lpstr>GT 1‑D PPO</vt:lpstr>
      <vt:lpstr>E2E 1-D PPO</vt:lpstr>
      <vt:lpstr>E2E 1‑D SAC test comparison</vt:lpstr>
      <vt:lpstr>E2E 2-D PPO vs SAC</vt:lpstr>
      <vt:lpstr>Final 2-D campaign preserved safety</vt:lpstr>
      <vt:lpstr>With camera input, the cage became decisive</vt:lpstr>
      <vt:lpstr>Status as of 31 July 2026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samuel sanchez</cp:lastModifiedBy>
  <cp:revision>3</cp:revision>
  <dcterms:created xsi:type="dcterms:W3CDTF">2026-08-02T16:02:30Z</dcterms:created>
  <dcterms:modified xsi:type="dcterms:W3CDTF">2026-08-02T16:17:42Z</dcterms:modified>
</cp:coreProperties>
</file>